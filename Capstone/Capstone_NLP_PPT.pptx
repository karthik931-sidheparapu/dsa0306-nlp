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6" r:id="rId9"/>
    <p:sldId id="267" r:id="rId10"/>
    <p:sldId id="268" r:id="rId11"/>
    <p:sldId id="275" r:id="rId12"/>
    <p:sldId id="272" r:id="rId13"/>
    <p:sldId id="273" r:id="rId14"/>
    <p:sldId id="274" r:id="rId15"/>
  </p:sldIdLst>
  <p:sldSz cx="10693400" cy="7562850"/>
  <p:notesSz cx="106934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98" autoAdjust="0"/>
    <p:restoredTop sz="94660"/>
  </p:normalViewPr>
  <p:slideViewPr>
    <p:cSldViewPr>
      <p:cViewPr varScale="1">
        <p:scale>
          <a:sx n="88" d="100"/>
          <a:sy n="88" d="100"/>
        </p:scale>
        <p:origin x="960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5131" y="1062227"/>
            <a:ext cx="1091183" cy="118414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88196" y="1062228"/>
            <a:ext cx="1091183" cy="109727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55507" y="1084575"/>
            <a:ext cx="7656314" cy="10104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23899" y="2910839"/>
            <a:ext cx="9291955" cy="2724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3202" y="428625"/>
            <a:ext cx="7206996" cy="86410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358871" y="3422406"/>
            <a:ext cx="8531860" cy="4006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IN" sz="2450" b="1" spc="-10" dirty="0">
                <a:solidFill>
                  <a:srgbClr val="001F60"/>
                </a:solidFill>
                <a:latin typeface="Times New Roman"/>
                <a:cs typeface="Times New Roman"/>
              </a:rPr>
              <a:t>DSA0316</a:t>
            </a:r>
            <a:r>
              <a:rPr sz="2450" b="1" spc="-10" dirty="0">
                <a:solidFill>
                  <a:srgbClr val="001F60"/>
                </a:solidFill>
                <a:latin typeface="Times New Roman"/>
                <a:cs typeface="Times New Roman"/>
              </a:rPr>
              <a:t>-</a:t>
            </a:r>
            <a:r>
              <a:rPr lang="en-IN" sz="2450" b="1" spc="-10" dirty="0">
                <a:solidFill>
                  <a:srgbClr val="001F60"/>
                </a:solidFill>
                <a:latin typeface="Times New Roman"/>
                <a:cs typeface="Times New Roman"/>
              </a:rPr>
              <a:t>Natural Language Processing</a:t>
            </a:r>
            <a:endParaRPr sz="245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40641" y="4387464"/>
            <a:ext cx="4224020" cy="2110193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sz="1750" b="1" dirty="0">
                <a:solidFill>
                  <a:srgbClr val="001F60"/>
                </a:solidFill>
                <a:latin typeface="Times New Roman"/>
                <a:cs typeface="Times New Roman"/>
              </a:rPr>
              <a:t>Presented</a:t>
            </a:r>
            <a:r>
              <a:rPr sz="1750" b="1" spc="-50" dirty="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sz="1750" b="1" dirty="0">
                <a:solidFill>
                  <a:srgbClr val="001F60"/>
                </a:solidFill>
                <a:latin typeface="Times New Roman"/>
                <a:cs typeface="Times New Roman"/>
              </a:rPr>
              <a:t>By</a:t>
            </a:r>
            <a:r>
              <a:rPr sz="1750" b="1" spc="-20" dirty="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sz="1750" b="1" spc="-50" dirty="0">
                <a:solidFill>
                  <a:srgbClr val="001F60"/>
                </a:solidFill>
                <a:latin typeface="Times New Roman"/>
                <a:cs typeface="Times New Roman"/>
              </a:rPr>
              <a:t>:</a:t>
            </a:r>
            <a:endParaRPr lang="en-US" sz="1750" b="1" spc="-50" dirty="0">
              <a:solidFill>
                <a:srgbClr val="001F60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lang="en-IN" sz="1750" b="1" spc="-50" dirty="0">
                <a:solidFill>
                  <a:srgbClr val="001F60"/>
                </a:solidFill>
                <a:latin typeface="Times New Roman"/>
                <a:cs typeface="Times New Roman"/>
              </a:rPr>
              <a:t>ABBURI ANIL(192425344)</a:t>
            </a: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lang="en-IN" sz="1750" b="1" spc="-50" dirty="0">
                <a:solidFill>
                  <a:srgbClr val="001F60"/>
                </a:solidFill>
                <a:latin typeface="Times New Roman"/>
                <a:cs typeface="Times New Roman"/>
              </a:rPr>
              <a:t>N. Tharun Sai (192472382)</a:t>
            </a: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lang="fi-FI" sz="1750" b="1" spc="-50" dirty="0">
                <a:solidFill>
                  <a:srgbClr val="001F60"/>
                </a:solidFill>
                <a:latin typeface="Times New Roman"/>
                <a:cs typeface="Times New Roman"/>
              </a:rPr>
              <a:t>S.N.V.S Karthik(192424186)</a:t>
            </a: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lang="en-IN" sz="1750" b="1" spc="-50" dirty="0">
                <a:solidFill>
                  <a:srgbClr val="001F60"/>
                </a:solidFill>
                <a:latin typeface="Times New Roman"/>
                <a:cs typeface="Times New Roman"/>
              </a:rPr>
              <a:t>V  </a:t>
            </a:r>
            <a:r>
              <a:rPr lang="en-IN" sz="1750" b="1" spc="-50" dirty="0" err="1">
                <a:solidFill>
                  <a:srgbClr val="001F60"/>
                </a:solidFill>
                <a:latin typeface="Times New Roman"/>
                <a:cs typeface="Times New Roman"/>
              </a:rPr>
              <a:t>Yogeswar</a:t>
            </a:r>
            <a:r>
              <a:rPr lang="en-IN" sz="1750" b="1" spc="-50" dirty="0">
                <a:solidFill>
                  <a:srgbClr val="001F60"/>
                </a:solidFill>
                <a:latin typeface="Times New Roman"/>
                <a:cs typeface="Times New Roman"/>
              </a:rPr>
              <a:t> (192425175)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27926" y="4378470"/>
            <a:ext cx="3247174" cy="1498936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lang="en-US" sz="1550" b="1" dirty="0">
                <a:solidFill>
                  <a:srgbClr val="001F60"/>
                </a:solidFill>
                <a:latin typeface="Times New Roman"/>
                <a:cs typeface="Times New Roman"/>
              </a:rPr>
              <a:t>Supervised</a:t>
            </a:r>
            <a:r>
              <a:rPr lang="en-US" sz="1550" b="1" spc="100" dirty="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lang="en-US" sz="1550" b="1" spc="-25" dirty="0">
                <a:solidFill>
                  <a:srgbClr val="001F60"/>
                </a:solidFill>
                <a:latin typeface="Times New Roman"/>
                <a:cs typeface="Times New Roman"/>
              </a:rPr>
              <a:t>By:</a:t>
            </a: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lang="en-US" sz="2000" b="1" dirty="0">
                <a:solidFill>
                  <a:srgbClr val="002060"/>
                </a:solidFill>
                <a:latin typeface="Times New Roman"/>
                <a:cs typeface="Times New Roman"/>
              </a:rPr>
              <a:t>Kumaragurubaran T</a:t>
            </a:r>
          </a:p>
          <a:p>
            <a:pPr marL="12700" marR="866140">
              <a:lnSpc>
                <a:spcPts val="2830"/>
              </a:lnSpc>
            </a:pPr>
            <a:r>
              <a:rPr lang="en-US" sz="1550" b="1" spc="-25" dirty="0">
                <a:solidFill>
                  <a:srgbClr val="001F60"/>
                </a:solidFill>
                <a:latin typeface="Times New Roman"/>
                <a:cs typeface="Times New Roman"/>
              </a:rPr>
              <a:t>SAVEETHA</a:t>
            </a:r>
            <a:r>
              <a:rPr lang="en-US" sz="1550" b="1" spc="-10" dirty="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lang="en-US" sz="1550" b="1" dirty="0">
                <a:solidFill>
                  <a:srgbClr val="001F60"/>
                </a:solidFill>
                <a:latin typeface="Times New Roman"/>
                <a:cs typeface="Times New Roman"/>
              </a:rPr>
              <a:t>SCHOOL</a:t>
            </a:r>
            <a:r>
              <a:rPr lang="en-US" sz="1550" b="1" spc="-35" dirty="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lang="en-US" sz="1550" b="1" spc="-25" dirty="0">
                <a:solidFill>
                  <a:srgbClr val="001F60"/>
                </a:solidFill>
                <a:latin typeface="Times New Roman"/>
                <a:cs typeface="Times New Roman"/>
              </a:rPr>
              <a:t>OF </a:t>
            </a:r>
            <a:r>
              <a:rPr lang="en-US" sz="1550" b="1" spc="-10" dirty="0">
                <a:solidFill>
                  <a:srgbClr val="001F60"/>
                </a:solidFill>
                <a:latin typeface="Times New Roman"/>
                <a:cs typeface="Times New Roman"/>
              </a:rPr>
              <a:t>ENGINEERING</a:t>
            </a:r>
            <a:endParaRPr lang="en-US" sz="1550" dirty="0">
              <a:latin typeface="Times New Roman"/>
              <a:cs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C623E0-44BD-771F-F0A7-C42E4B7861A3}"/>
              </a:ext>
            </a:extLst>
          </p:cNvPr>
          <p:cNvSpPr txBox="1"/>
          <p:nvPr/>
        </p:nvSpPr>
        <p:spPr>
          <a:xfrm>
            <a:off x="1358871" y="1857106"/>
            <a:ext cx="75913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Property Dispute Judgment Interpretation System Using Feature-Based Grammar, Probabilistic Context-Free Grammar and Word Sense Disambiguation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32900" y="200025"/>
            <a:ext cx="1091183" cy="109727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1652" y="119252"/>
            <a:ext cx="1086611" cy="117805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00211" y="222372"/>
            <a:ext cx="7656314" cy="1010416"/>
          </a:xfrm>
          <a:prstGeom prst="rect">
            <a:avLst/>
          </a:prstGeom>
        </p:spPr>
        <p:txBody>
          <a:bodyPr vert="horz" wrap="square" lIns="0" tIns="253896" rIns="0" bIns="0" rtlCol="0">
            <a:spAutoFit/>
          </a:bodyPr>
          <a:lstStyle/>
          <a:p>
            <a:pPr marL="2979420">
              <a:lnSpc>
                <a:spcPct val="100000"/>
              </a:lnSpc>
              <a:spcBef>
                <a:spcPts val="115"/>
              </a:spcBef>
            </a:pPr>
            <a:r>
              <a:rPr sz="3850" spc="-10" dirty="0"/>
              <a:t>Abstract</a:t>
            </a:r>
            <a:endParaRPr sz="3850" dirty="0"/>
          </a:p>
        </p:txBody>
      </p:sp>
      <p:sp>
        <p:nvSpPr>
          <p:cNvPr id="5" name="object 5"/>
          <p:cNvSpPr txBox="1"/>
          <p:nvPr/>
        </p:nvSpPr>
        <p:spPr>
          <a:xfrm>
            <a:off x="771652" y="2105025"/>
            <a:ext cx="9389103" cy="40146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designed to 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interpret court judgments related to property disputes using Natural Language Processing.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Feature-Based Grammar (FBG) is used to represent grammatical features and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syntactic structure of legal sentences.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Probabilistic Context-Free Grammar (PCFG) is used to generate and rank possible sentence structures based on their probabilities.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 Sense Disambiguation (WSD) identifies the appropriate meaning of ambiguous legal terms using their context.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18543" y="1038225"/>
            <a:ext cx="7656314" cy="1010416"/>
          </a:xfrm>
          <a:prstGeom prst="rect">
            <a:avLst/>
          </a:prstGeom>
        </p:spPr>
        <p:txBody>
          <a:bodyPr vert="horz" wrap="square" lIns="0" tIns="340958" rIns="0" bIns="0" rtlCol="0">
            <a:spAutoFit/>
          </a:bodyPr>
          <a:lstStyle/>
          <a:p>
            <a:pPr marL="249364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1390" y="2562225"/>
            <a:ext cx="8957310" cy="4114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Property dispute judgments contain complex sentences, legal terminology, and context-dependent meanings.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these judgments manually can be time-consuming, especially when sentences contain multiple clauses and legal terms.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can help convert legal text into structured linguistic information for easier analysis.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combines FBG, PCFG, and WSD to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sentence structure and identify the appropriate meaning of legal terms.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2200" y="657225"/>
            <a:ext cx="6858000" cy="860573"/>
          </a:xfrm>
          <a:prstGeom prst="rect">
            <a:avLst/>
          </a:prstGeom>
        </p:spPr>
        <p:txBody>
          <a:bodyPr vert="horz" wrap="square" lIns="0" tIns="395050" rIns="0" bIns="0" rtlCol="0">
            <a:spAutoFit/>
          </a:bodyPr>
          <a:lstStyle/>
          <a:p>
            <a:pPr marL="2060575" algn="ctr">
              <a:lnSpc>
                <a:spcPct val="100000"/>
              </a:lnSpc>
              <a:spcBef>
                <a:spcPts val="110"/>
              </a:spcBef>
            </a:pPr>
            <a:r>
              <a:rPr lang="en-IN" sz="3000" spc="-10" dirty="0"/>
              <a:t>SYSTEM ARCHITECTURE</a:t>
            </a:r>
            <a:endParaRPr lang="en-IN" sz="3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14E5E40-728E-0FF1-0559-007444A436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844" y="2257425"/>
            <a:ext cx="8943711" cy="53054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12900" y="1084575"/>
            <a:ext cx="7656314" cy="1010416"/>
          </a:xfrm>
          <a:prstGeom prst="rect">
            <a:avLst/>
          </a:prstGeom>
        </p:spPr>
        <p:txBody>
          <a:bodyPr vert="horz" wrap="square" lIns="0" tIns="340958" rIns="0" bIns="0" rtlCol="0">
            <a:spAutoFit/>
          </a:bodyPr>
          <a:lstStyle/>
          <a:p>
            <a:pPr marL="2063750">
              <a:lnSpc>
                <a:spcPct val="100000"/>
              </a:lnSpc>
              <a:spcBef>
                <a:spcPts val="105"/>
              </a:spcBef>
            </a:pPr>
            <a:r>
              <a:rPr dirty="0"/>
              <a:t>EXISTING</a:t>
            </a:r>
            <a:r>
              <a:rPr spc="-45" dirty="0"/>
              <a:t> </a:t>
            </a:r>
            <a:r>
              <a:rPr spc="-10" dirty="0"/>
              <a:t>SYSTEM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50900" y="2409825"/>
            <a:ext cx="9476105" cy="4522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legal text analysis often focuses on basic text processing or document classification rather than detailed sentence interpretation.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identification of legal terms, clauses, and relationships can require significant time and effort.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rule-based or shallow parsing methods may have difficulty handling complex sentence structures and ambiguous legal terms.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approaches may not combine syntactic parsing, probabilistic analysis, and word sense disambiguation in a single property-dispute interpretation workflow.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65603" y="3190778"/>
            <a:ext cx="61594" cy="2120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spc="-50" dirty="0">
                <a:latin typeface="Calibri"/>
                <a:cs typeface="Calibri"/>
              </a:rPr>
              <a:t>i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65603" y="4239300"/>
            <a:ext cx="61594" cy="2120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spc="-50" dirty="0">
                <a:latin typeface="Calibri"/>
                <a:cs typeface="Calibri"/>
              </a:rPr>
              <a:t>l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610173"/>
              </p:ext>
            </p:extLst>
          </p:nvPr>
        </p:nvGraphicFramePr>
        <p:xfrm>
          <a:off x="61721" y="1925573"/>
          <a:ext cx="10448923" cy="47478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6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93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83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51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278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Scope / Objective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Highlights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Relevance to Your Topic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14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Advances in Word Sense Disambiguation for Natural Language Processing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J. Smith, A. Kumar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improve contextual understanding of ambiguous words in NLP systems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Introduces deep learning and knowledge-based WSD techniques for accurate meaning identification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Helps identify correct legal meanings of terms like </a:t>
                      </a:r>
                      <a:r>
                        <a:rPr lang="en-US" sz="12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possession, ownership,</a:t>
                      </a: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</a:t>
                      </a:r>
                      <a:r>
                        <a:rPr lang="en-US" sz="12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claim</a:t>
                      </a: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 property judgments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9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anchor="ctr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Probabilistic Context-Free Grammar for Syntactic Parsing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M. Johnson, D. Klein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apply PCFG models for resolving syntactic ambiguities in natural language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statistical probabilities to select the most likely parse tree for complex sentences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parsing of long and complex legal sentences in property dispute documents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86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Feature-Based Grammar in Computational Linguistics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R. Kaplan, J. Bresnan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represent syntactic and semantic constraints using feature structures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Demonstrates agreement constraints, grammatical relations, and structured linguistic representations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Enables structured analysis of legal statements in court judgments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2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Legal Text Mining Using Natural Language Processing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Bhattacharya, P. Gupta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automatically analyze legal documents using NLP techniques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Extracts entities, relationships, and key legal arguments from judgments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Helps automate interpretation of property dispute cases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381252" y="1084575"/>
            <a:ext cx="5830570" cy="6673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200" spc="-20" dirty="0"/>
              <a:t>LITERATURE</a:t>
            </a:r>
            <a:r>
              <a:rPr sz="4200" spc="-215" dirty="0"/>
              <a:t> </a:t>
            </a:r>
            <a:r>
              <a:rPr sz="4200" spc="-10" dirty="0"/>
              <a:t>SURVEY</a:t>
            </a:r>
            <a:endParaRPr sz="4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18543" y="885825"/>
            <a:ext cx="7656314" cy="953369"/>
          </a:xfrm>
          <a:prstGeom prst="rect">
            <a:avLst/>
          </a:prstGeom>
        </p:spPr>
        <p:txBody>
          <a:bodyPr vert="horz" wrap="square" lIns="0" tIns="357409" rIns="0" bIns="0" rtlCol="0">
            <a:spAutoFit/>
          </a:bodyPr>
          <a:lstStyle/>
          <a:p>
            <a:pPr marL="868680">
              <a:lnSpc>
                <a:spcPct val="100000"/>
              </a:lnSpc>
              <a:spcBef>
                <a:spcPts val="115"/>
              </a:spcBef>
            </a:pPr>
            <a:r>
              <a:rPr sz="3850" dirty="0">
                <a:latin typeface="Times New Roman"/>
                <a:cs typeface="Times New Roman"/>
              </a:rPr>
              <a:t>PROBLEM</a:t>
            </a:r>
            <a:r>
              <a:rPr sz="3850" spc="-35" dirty="0">
                <a:latin typeface="Times New Roman"/>
                <a:cs typeface="Times New Roman"/>
              </a:rPr>
              <a:t> </a:t>
            </a:r>
            <a:r>
              <a:rPr sz="3850" spc="-60" dirty="0">
                <a:latin typeface="Times New Roman"/>
                <a:cs typeface="Times New Roman"/>
              </a:rPr>
              <a:t>STATEMENT</a:t>
            </a:r>
            <a:endParaRPr sz="385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50900" y="2486025"/>
            <a:ext cx="8991600" cy="3688462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Property dispute judgments contain complex sentence structures and specialized legal terminology.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sentences and multiple clauses can make syntactic analysis difficult.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 terms such as claim, title, possession, and ownership can have different meanings depending on context.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there is a need for an NLP system that can 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sentence structure, resolve ambiguity, and interpret legal terms in context.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6991" y="1040892"/>
            <a:ext cx="1094231" cy="118567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60764" y="1040892"/>
            <a:ext cx="1086611" cy="109423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 flipH="1">
            <a:off x="1765300" y="733425"/>
            <a:ext cx="7162799" cy="1260682"/>
          </a:xfrm>
          <a:prstGeom prst="rect">
            <a:avLst/>
          </a:prstGeom>
        </p:spPr>
        <p:txBody>
          <a:bodyPr vert="horz" wrap="square" lIns="0" tIns="395050" rIns="0" bIns="0" rtlCol="0">
            <a:spAutoFit/>
          </a:bodyPr>
          <a:lstStyle/>
          <a:p>
            <a:pPr algn="ctr"/>
            <a:r>
              <a:rPr lang="en-IN" dirty="0"/>
              <a:t>MODULE 1 – Legal Text Preprocessing and Linguistic 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7100" y="2498007"/>
            <a:ext cx="9144000" cy="43485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 property dispute judgments and legal documents as input data.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 text preprocessing such as tokenization and sentence segmentation.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 Part-of-Speech (POS) tagging to identify the grammatical category of each word.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the raw legal text into structured linguistic information for further analysis.</a:t>
            </a:r>
          </a:p>
          <a:p>
            <a:pPr>
              <a:lnSpc>
                <a:spcPct val="150000"/>
              </a:lnSpc>
            </a:pPr>
            <a:r>
              <a:rPr lang="en-IN" b="1" dirty="0"/>
              <a:t>E</a:t>
            </a:r>
            <a:r>
              <a:rPr lang="en-IN" sz="1800" b="1" dirty="0"/>
              <a:t>xample:-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“Karthik claimed ownership."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→ Karthik = Proper Noun</a:t>
            </a:r>
            <a:br>
              <a:rPr lang="en-IN" dirty="0"/>
            </a:br>
            <a:r>
              <a:rPr lang="en-IN" sz="1800" dirty="0"/>
              <a:t>→ claimed = Verb</a:t>
            </a:r>
            <a:br>
              <a:rPr lang="en-IN" dirty="0"/>
            </a:br>
            <a:r>
              <a:rPr lang="en-IN" sz="1800" dirty="0"/>
              <a:t>→ ownership = Noun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59179" y="2714625"/>
            <a:ext cx="9220200" cy="38856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 legal sentences using Feature-Based Grammar (FBG).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grammatical features such as tense, number, and person.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relationships between subject, verb, and object in legal sentences.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 structured syntactic representation of the sentence.</a:t>
            </a:r>
          </a:p>
          <a:p>
            <a:pPr algn="just">
              <a:lnSpc>
                <a:spcPct val="150000"/>
              </a:lnSpc>
            </a:pPr>
            <a:r>
              <a:rPr lang="en-IN" b="1" dirty="0"/>
              <a:t>E</a:t>
            </a:r>
            <a:r>
              <a:rPr lang="en-IN" sz="1800" b="1" dirty="0"/>
              <a:t>xample: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“</a:t>
            </a:r>
            <a:r>
              <a:rPr lang="en-IN" b="1" dirty="0"/>
              <a:t>Karthik</a:t>
            </a:r>
            <a:r>
              <a:rPr lang="en-IN" sz="1800" b="1" dirty="0"/>
              <a:t> claimed ownership."</a:t>
            </a:r>
            <a:endParaRPr lang="en-IN" sz="1800" dirty="0"/>
          </a:p>
          <a:p>
            <a:pPr>
              <a:lnSpc>
                <a:spcPct val="150000"/>
              </a:lnSpc>
            </a:pPr>
            <a:r>
              <a:rPr lang="en-IN" sz="1800" dirty="0"/>
              <a:t>→ Subject: </a:t>
            </a:r>
            <a:r>
              <a:rPr lang="en-IN" dirty="0"/>
              <a:t>Karthik</a:t>
            </a:r>
            <a:br>
              <a:rPr lang="en-IN" sz="1800" dirty="0"/>
            </a:br>
            <a:r>
              <a:rPr lang="en-IN" sz="1800" dirty="0"/>
              <a:t>→ Verb: claimed</a:t>
            </a:r>
            <a:br>
              <a:rPr lang="en-IN" sz="1800" dirty="0"/>
            </a:br>
            <a:r>
              <a:rPr lang="en-IN" sz="1800" dirty="0"/>
              <a:t>→ Object: ownership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08200" y="583848"/>
            <a:ext cx="6477000" cy="1782351"/>
          </a:xfrm>
          <a:prstGeom prst="rect">
            <a:avLst/>
          </a:prstGeom>
        </p:spPr>
        <p:txBody>
          <a:bodyPr vert="horz" wrap="square" lIns="0" tIns="538294" rIns="0" bIns="0" rtlCol="0">
            <a:spAutoFit/>
          </a:bodyPr>
          <a:lstStyle/>
          <a:p>
            <a:pPr algn="ctr"/>
            <a:r>
              <a:rPr lang="en-IN" dirty="0"/>
              <a:t>MODULE 2 – Feature-Based Grammar Parsing and Syntactic Analysis</a:t>
            </a:r>
            <a:br>
              <a:rPr lang="en-IN" sz="2400" dirty="0"/>
            </a:br>
            <a:endParaRPr sz="245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5131" y="1062227"/>
            <a:ext cx="1091183" cy="118414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88196" y="1062228"/>
            <a:ext cx="1091183" cy="109727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892" y="1040892"/>
            <a:ext cx="1091183" cy="11841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90888" y="1040891"/>
            <a:ext cx="1091183" cy="109727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52324" y="581025"/>
            <a:ext cx="7656314" cy="1308281"/>
          </a:xfrm>
          <a:prstGeom prst="rect">
            <a:avLst/>
          </a:prstGeom>
        </p:spPr>
        <p:txBody>
          <a:bodyPr vert="horz" wrap="square" lIns="0" tIns="442188" rIns="0" bIns="0" rtlCol="0">
            <a:spAutoFit/>
          </a:bodyPr>
          <a:lstStyle/>
          <a:p>
            <a:pPr algn="ctr"/>
            <a:r>
              <a:rPr lang="en-IN" dirty="0"/>
              <a:t>MODULE 3 – Probabilistic Context-Free Grammar Parsing and Ambiguity Resolution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28032" y="2486025"/>
            <a:ext cx="7837336" cy="41124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 Context-Free Grammar (CFG) rules for legal sentence structures.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 probabilities to different grammar rules.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possible parse structures for complex or ambiguous sentences.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 most probable parse based on the assigned probabilities.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Example:-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two possible interpretations are found: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Parse 1 → 0.75 probability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Parse 2 → 0.25 probability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The system selects Parse 1 as the more probable structure.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F1880-C54F-8A3E-43C1-B7754E00F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5A6D1EDB-CC2D-21BB-BCCD-0FA0EC8DE16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892" y="1040892"/>
            <a:ext cx="1091183" cy="1184148"/>
          </a:xfrm>
          <a:prstGeom prst="rect">
            <a:avLst/>
          </a:prstGeom>
        </p:spPr>
      </p:pic>
      <p:pic>
        <p:nvPicPr>
          <p:cNvPr id="3" name="object 3">
            <a:extLst>
              <a:ext uri="{FF2B5EF4-FFF2-40B4-BE49-F238E27FC236}">
                <a16:creationId xmlns:a16="http://schemas.microsoft.com/office/drawing/2014/main" id="{4236EE44-AC01-E23E-9D07-4F6FA88BEE0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90888" y="1040891"/>
            <a:ext cx="1091183" cy="1097279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BB7476AF-8389-F904-4AEE-E7B873A4A2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52324" y="581025"/>
            <a:ext cx="7656314" cy="1308281"/>
          </a:xfrm>
          <a:prstGeom prst="rect">
            <a:avLst/>
          </a:prstGeom>
        </p:spPr>
        <p:txBody>
          <a:bodyPr vert="horz" wrap="square" lIns="0" tIns="442188" rIns="0" bIns="0" rtlCol="0">
            <a:spAutoFit/>
          </a:bodyPr>
          <a:lstStyle/>
          <a:p>
            <a:pPr algn="ctr"/>
            <a:r>
              <a:rPr lang="en-IN" dirty="0"/>
              <a:t>MODULE 4 – Word Sense Disambiguation and Property Judgment Interpretation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8176F0E-A6DF-166E-62E1-9E0B1ADD0882}"/>
              </a:ext>
            </a:extLst>
          </p:cNvPr>
          <p:cNvSpPr txBox="1"/>
          <p:nvPr/>
        </p:nvSpPr>
        <p:spPr>
          <a:xfrm>
            <a:off x="546100" y="2407688"/>
            <a:ext cx="10014668" cy="45741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 ambiguous legal terms such as claim, title, possession, and ownership.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 Word Sense Disambiguation (WSD) to determine the correct meaning from context.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grammatical structure and word meaning to understand the property dispute.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 clear and structured interpretation of the judgment.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Example:-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“Karthik claimed ownership of the property."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Person: Karthik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Legal action: Claimed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Issue: Ownership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Property: Disputed property</a:t>
            </a:r>
          </a:p>
        </p:txBody>
      </p:sp>
    </p:spTree>
    <p:extLst>
      <p:ext uri="{BB962C8B-B14F-4D97-AF65-F5344CB8AC3E}">
        <p14:creationId xmlns:p14="http://schemas.microsoft.com/office/powerpoint/2010/main" val="3867904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0958" rIns="0" bIns="0" rtlCol="0">
            <a:spAutoFit/>
          </a:bodyPr>
          <a:lstStyle/>
          <a:p>
            <a:pPr marL="271145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7100" y="2409825"/>
            <a:ext cx="9198389" cy="4522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combines Feature-Based Grammar, PCFG, and Word Sense Disambiguation for property dispute judgment analysis.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first preprocesses legal text, then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its grammatical structure and possible sentence interpretations.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WSD helps identify the appropriate meaning of ambiguous legal terms based on their context.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integrated approach provides a structured interpretation of property dispute judgments and demonstrates the use of NLP for legal text analysis.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0900" y="2714625"/>
            <a:ext cx="9296399" cy="32419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3384" marR="5080" indent="-40132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413384" algn="l"/>
              </a:tabLst>
            </a:pPr>
            <a:r>
              <a:rPr lang="en-US" sz="1900" spc="-10" dirty="0">
                <a:latin typeface="Times New Roman"/>
                <a:cs typeface="Times New Roman"/>
              </a:rPr>
              <a:t>A survey and explanation of Word Sense Disambiguation — a core component of your system — was published on </a:t>
            </a:r>
            <a:r>
              <a:rPr lang="en-US" sz="1900" spc="-10" dirty="0" err="1">
                <a:latin typeface="Times New Roman"/>
                <a:cs typeface="Times New Roman"/>
              </a:rPr>
              <a:t>GeeksforGeeks</a:t>
            </a:r>
            <a:r>
              <a:rPr lang="en-US" sz="1900" spc="-10" dirty="0">
                <a:latin typeface="Times New Roman"/>
                <a:cs typeface="Times New Roman"/>
              </a:rPr>
              <a:t> in August 2025, summarizing modern WSD techniques and their importance in Natural Language Processing (NLP).</a:t>
            </a:r>
          </a:p>
          <a:p>
            <a:pPr marL="413384" marR="5080" indent="-40132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413384" algn="l"/>
              </a:tabLst>
            </a:pPr>
            <a:endParaRPr sz="1900" dirty="0">
              <a:latin typeface="Times New Roman"/>
              <a:cs typeface="Times New Roman"/>
            </a:endParaRPr>
          </a:p>
          <a:p>
            <a:pPr marL="413384" marR="108585" indent="-401320">
              <a:lnSpc>
                <a:spcPct val="100000"/>
              </a:lnSpc>
              <a:buAutoNum type="arabicPeriod"/>
              <a:tabLst>
                <a:tab pos="413384" algn="l"/>
              </a:tabLst>
            </a:pPr>
            <a:r>
              <a:rPr lang="en-US" sz="1900" dirty="0">
                <a:latin typeface="Times New Roman"/>
                <a:cs typeface="Times New Roman"/>
              </a:rPr>
              <a:t>Probabilistic Context-Free Grammars are a well-established statistical grammar formalism widely used to resolve syntactic ambiguity by assigning probabilities to parse rules. The Wikipedia entry provides an overview of PCFG principles and applications (relevant foundational background)</a:t>
            </a:r>
          </a:p>
          <a:p>
            <a:pPr marL="413384" marR="108585" indent="-401320">
              <a:lnSpc>
                <a:spcPct val="100000"/>
              </a:lnSpc>
              <a:buAutoNum type="arabicPeriod"/>
              <a:tabLst>
                <a:tab pos="413384" algn="l"/>
              </a:tabLst>
            </a:pPr>
            <a:endParaRPr sz="1900" dirty="0">
              <a:latin typeface="Times New Roman"/>
              <a:cs typeface="Times New Roman"/>
            </a:endParaRPr>
          </a:p>
          <a:p>
            <a:pPr marL="413384" marR="203835" indent="-401320">
              <a:lnSpc>
                <a:spcPct val="100000"/>
              </a:lnSpc>
              <a:buAutoNum type="arabicPeriod"/>
              <a:tabLst>
                <a:tab pos="413384" algn="l"/>
              </a:tabLst>
            </a:pPr>
            <a:r>
              <a:rPr lang="en-US" sz="1900" spc="-10" dirty="0">
                <a:latin typeface="Times New Roman"/>
                <a:cs typeface="Times New Roman"/>
              </a:rPr>
              <a:t>Research from </a:t>
            </a:r>
            <a:r>
              <a:rPr lang="en-US" sz="1900" spc="-10" dirty="0" err="1">
                <a:latin typeface="Times New Roman"/>
                <a:cs typeface="Times New Roman"/>
              </a:rPr>
              <a:t>SemEval</a:t>
            </a:r>
            <a:r>
              <a:rPr lang="en-US" sz="1900" spc="-10" dirty="0">
                <a:latin typeface="Times New Roman"/>
                <a:cs typeface="Times New Roman"/>
              </a:rPr>
              <a:t> 2023 Task 6: </a:t>
            </a:r>
            <a:r>
              <a:rPr lang="en-US" sz="1900" spc="-10" dirty="0" err="1">
                <a:latin typeface="Times New Roman"/>
                <a:cs typeface="Times New Roman"/>
              </a:rPr>
              <a:t>LegalEval</a:t>
            </a:r>
            <a:r>
              <a:rPr lang="en-US" sz="1900" spc="-10" dirty="0">
                <a:latin typeface="Times New Roman"/>
                <a:cs typeface="Times New Roman"/>
              </a:rPr>
              <a:t> demonstrated active academic work in automated legal text understanding, including structuring and explaining legal documents</a:t>
            </a:r>
            <a:endParaRPr sz="19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17700" y="962025"/>
            <a:ext cx="7656314" cy="1010416"/>
          </a:xfrm>
          <a:prstGeom prst="rect">
            <a:avLst/>
          </a:prstGeom>
        </p:spPr>
        <p:txBody>
          <a:bodyPr vert="horz" wrap="square" lIns="0" tIns="430984" rIns="0" bIns="0" rtlCol="0">
            <a:spAutoFit/>
          </a:bodyPr>
          <a:lstStyle/>
          <a:p>
            <a:pPr marL="224536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REFERENCES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3361" y="3253292"/>
            <a:ext cx="4917440" cy="9874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300" dirty="0">
                <a:solidFill>
                  <a:srgbClr val="000000"/>
                </a:solidFill>
              </a:rPr>
              <a:t>THANK</a:t>
            </a:r>
            <a:r>
              <a:rPr sz="6300" spc="-245" dirty="0">
                <a:solidFill>
                  <a:srgbClr val="000000"/>
                </a:solidFill>
              </a:rPr>
              <a:t> </a:t>
            </a:r>
            <a:r>
              <a:rPr sz="6300" spc="-25" dirty="0">
                <a:solidFill>
                  <a:srgbClr val="000000"/>
                </a:solidFill>
              </a:rPr>
              <a:t>YOU</a:t>
            </a:r>
            <a:endParaRPr sz="6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166</TotalTime>
  <Words>1071</Words>
  <Application>Microsoft Office PowerPoint</Application>
  <PresentationFormat>Custom</PresentationFormat>
  <Paragraphs>109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Calibri</vt:lpstr>
      <vt:lpstr>Times New Roman</vt:lpstr>
      <vt:lpstr>Wingdings</vt:lpstr>
      <vt:lpstr>Office Theme</vt:lpstr>
      <vt:lpstr>PowerPoint Presentation</vt:lpstr>
      <vt:lpstr>Abstract</vt:lpstr>
      <vt:lpstr>INTRODUCTION</vt:lpstr>
      <vt:lpstr>SYSTEM ARCHITECTURE</vt:lpstr>
      <vt:lpstr>EXISTING SYSTEM</vt:lpstr>
      <vt:lpstr>LITERATURE SURVEY</vt:lpstr>
      <vt:lpstr>PROBLEM STATEMENT</vt:lpstr>
      <vt:lpstr>MODULE 1 – Legal Text Preprocessing and Linguistic Analysis</vt:lpstr>
      <vt:lpstr>MODULE 2 – Feature-Based Grammar Parsing and Syntactic Analysis </vt:lpstr>
      <vt:lpstr>MODULE 3 – Probabilistic Context-Free Grammar Parsing and Ambiguity Resolution</vt:lpstr>
      <vt:lpstr>MODULE 4 – Word Sense Disambiguation and Property Judgment Interpretation</vt:lpstr>
      <vt:lpstr>CONCLUSION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review 2</dc:title>
  <dc:creator>user</dc:creator>
  <cp:lastModifiedBy>V Yogeswar</cp:lastModifiedBy>
  <cp:revision>11</cp:revision>
  <dcterms:created xsi:type="dcterms:W3CDTF">2026-02-06T03:10:16Z</dcterms:created>
  <dcterms:modified xsi:type="dcterms:W3CDTF">2026-08-22T06:22:07Z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2026-01-21T00:00:00Z</vt:filetime>
  </property>
  <property fmtid="{D5CDD505-2E9C-101B-9397-08002B2CF9AE}" pid="3" name="LastSaved">
    <vt:filetime>2026-02-06T00:00:00Z</vt:filetime>
  </property>
  <property fmtid="{D5CDD505-2E9C-101B-9397-08002B2CF9AE}" pid="4" name="Producer">
    <vt:lpwstr>Microsoft: Print To PDF</vt:lpwstr>
  </property>
</Properties>
</file>